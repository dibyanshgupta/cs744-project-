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098845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75119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904318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545789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77600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59846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59102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14222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14265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058708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12241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6457278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66504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56192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395622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303087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003974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9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rPr lang="en-US" dirty="0"/>
              <a:t>HTTP Based KV Server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CS744 Project</a:t>
            </a:r>
          </a:p>
          <a:p>
            <a:r>
              <a:t>Dibyansh Gupta (25M0778)</a:t>
            </a: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0689" y="288959"/>
            <a:ext cx="8534400" cy="1507067"/>
          </a:xfrm>
        </p:spPr>
        <p:txBody>
          <a:bodyPr/>
          <a:lstStyle/>
          <a:p>
            <a:r>
              <a:rPr dirty="0"/>
              <a:t>System Architecture - Multi-Tier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159820"/>
            <a:ext cx="5309419" cy="3615267"/>
          </a:xfrm>
        </p:spPr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Load Generator (clients pinned to cores 8–11) — persistent TCP connections</a:t>
            </a:r>
          </a:p>
          <a:p>
            <a:pPr>
              <a:defRPr sz="1800"/>
            </a:pPr>
            <a:r>
              <a:rPr dirty="0"/>
              <a:t>Crow HTTP Server (server pinned to cores 0–3) — multi-threaded request handling</a:t>
            </a:r>
          </a:p>
          <a:p>
            <a:pPr>
              <a:defRPr sz="1800"/>
            </a:pPr>
            <a:r>
              <a:rPr dirty="0"/>
              <a:t>In-memory LRU Cache for hotspot reads (fast path)</a:t>
            </a:r>
          </a:p>
          <a:p>
            <a:pPr>
              <a:defRPr sz="1800"/>
            </a:pPr>
            <a:r>
              <a:rPr dirty="0"/>
              <a:t>PostgreSQL Database (pinned to cores 4–7) — WAL </a:t>
            </a:r>
            <a:r>
              <a:rPr dirty="0" err="1"/>
              <a:t>fsync</a:t>
            </a:r>
            <a:r>
              <a:rPr dirty="0"/>
              <a:t> for durability</a:t>
            </a:r>
          </a:p>
          <a:p>
            <a:pPr>
              <a:defRPr sz="1800"/>
            </a:pPr>
            <a:r>
              <a:rPr dirty="0"/>
              <a:t>Two paths: GET_POPULAR (CPU-bound) and PUT_ALL/MIXED (Disk-bound)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A338A7-D028-7E29-3083-DD5E6F5BA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9" y="2163097"/>
            <a:ext cx="6777491" cy="4275769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Process &amp;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  <a:defRPr sz="1800"/>
            </a:pPr>
            <a:r>
              <a:rPr dirty="0"/>
              <a:t>C++17 server using Crow + </a:t>
            </a:r>
            <a:r>
              <a:rPr dirty="0" err="1"/>
              <a:t>libpq</a:t>
            </a:r>
            <a:r>
              <a:rPr dirty="0"/>
              <a:t>; custom thread-safe LRU cache</a:t>
            </a:r>
          </a:p>
          <a:p>
            <a:pPr>
              <a:lnSpc>
                <a:spcPct val="200000"/>
              </a:lnSpc>
              <a:defRPr sz="1800"/>
            </a:pPr>
            <a:r>
              <a:rPr dirty="0"/>
              <a:t>Load generator in C++ with closed-loop persistent connections</a:t>
            </a:r>
          </a:p>
          <a:p>
            <a:pPr>
              <a:lnSpc>
                <a:spcPct val="200000"/>
              </a:lnSpc>
              <a:defRPr sz="1800"/>
            </a:pPr>
            <a:r>
              <a:rPr dirty="0"/>
              <a:t>Prepared statements and thread-local DB connections</a:t>
            </a:r>
          </a:p>
          <a:p>
            <a:pPr>
              <a:lnSpc>
                <a:spcPct val="200000"/>
              </a:lnSpc>
              <a:defRPr sz="1800"/>
            </a:pPr>
            <a:r>
              <a:rPr dirty="0"/>
              <a:t>CPU pinning for isolation</a:t>
            </a:r>
            <a:endParaRPr lang="en-US" dirty="0"/>
          </a:p>
          <a:p>
            <a:pPr>
              <a:lnSpc>
                <a:spcPct val="200000"/>
              </a:lnSpc>
              <a:defRPr sz="1800"/>
            </a:pPr>
            <a:r>
              <a:rPr lang="en-US" dirty="0"/>
              <a:t>Nearly 300 lines of code in sever.cpp and 250 lines of code in loadgen.cpp</a:t>
            </a:r>
          </a:p>
          <a:p>
            <a:pPr>
              <a:lnSpc>
                <a:spcPct val="200000"/>
              </a:lnSpc>
              <a:defRPr sz="1800"/>
            </a:pPr>
            <a:r>
              <a:rPr lang="en-IN" dirty="0"/>
              <a:t>GitHub Repository Link </a:t>
            </a:r>
            <a:r>
              <a:rPr lang="en-IN" dirty="0">
                <a:sym typeface="Wingdings" panose="05000000000000000000" pitchFamily="2" charset="2"/>
              </a:rPr>
              <a:t> https://github.com/DibyanshGupta/CS744-Project-</a:t>
            </a:r>
            <a:endParaRPr dirty="0"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Generator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lnSpc>
                <a:spcPct val="200000"/>
              </a:lnSpc>
              <a:defRPr sz="1800"/>
            </a:pPr>
            <a:r>
              <a:rPr dirty="0"/>
              <a:t>Closed-loop (each client waits for response) to measure latency accurately</a:t>
            </a:r>
          </a:p>
          <a:p>
            <a:pPr>
              <a:lnSpc>
                <a:spcPct val="200000"/>
              </a:lnSpc>
              <a:defRPr sz="1800"/>
            </a:pPr>
            <a:r>
              <a:rPr dirty="0"/>
              <a:t>Persistent keep-alive sockets; multi-threaded clients (5–50 threads)</a:t>
            </a:r>
          </a:p>
          <a:p>
            <a:pPr>
              <a:lnSpc>
                <a:spcPct val="200000"/>
              </a:lnSpc>
              <a:defRPr sz="1800"/>
            </a:pPr>
            <a:r>
              <a:rPr dirty="0"/>
              <a:t>Workloads: GET_POPULAR, GET_ALL, PUT_ALL, MIXED</a:t>
            </a:r>
          </a:p>
          <a:p>
            <a:pPr>
              <a:lnSpc>
                <a:spcPct val="200000"/>
              </a:lnSpc>
              <a:defRPr sz="1800"/>
            </a:pPr>
            <a:r>
              <a:rPr dirty="0"/>
              <a:t>Pinned </a:t>
            </a:r>
            <a:r>
              <a:rPr dirty="0" err="1"/>
              <a:t>loadgen</a:t>
            </a:r>
            <a:r>
              <a:rPr dirty="0"/>
              <a:t> to cores 8–11 to avoid interference with server</a:t>
            </a: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lnSpc>
                <a:spcPct val="150000"/>
              </a:lnSpc>
              <a:defRPr sz="1800"/>
            </a:pPr>
            <a:r>
              <a:rPr dirty="0"/>
              <a:t>Server pinned: cores 0–3 | PostgreSQL pinned: cores 4–7 | </a:t>
            </a:r>
            <a:r>
              <a:rPr dirty="0" err="1"/>
              <a:t>Loadgen</a:t>
            </a:r>
            <a:r>
              <a:rPr dirty="0"/>
              <a:t> pinned: cores 8–11</a:t>
            </a:r>
          </a:p>
          <a:p>
            <a:pPr>
              <a:lnSpc>
                <a:spcPct val="150000"/>
              </a:lnSpc>
              <a:defRPr sz="1800"/>
            </a:pPr>
            <a:r>
              <a:rPr dirty="0"/>
              <a:t>Load levels tested: clients = 5,10,15,...,50 </a:t>
            </a:r>
            <a:endParaRPr lang="en-US" dirty="0"/>
          </a:p>
          <a:p>
            <a:pPr>
              <a:lnSpc>
                <a:spcPct val="150000"/>
              </a:lnSpc>
              <a:defRPr sz="1800"/>
            </a:pPr>
            <a:r>
              <a:rPr lang="en-IN" dirty="0"/>
              <a:t>16 threads used in Server</a:t>
            </a:r>
            <a:endParaRPr dirty="0"/>
          </a:p>
          <a:p>
            <a:pPr>
              <a:lnSpc>
                <a:spcPct val="150000"/>
              </a:lnSpc>
              <a:defRPr sz="1800"/>
            </a:pPr>
            <a:r>
              <a:rPr dirty="0"/>
              <a:t>Test duration: </a:t>
            </a:r>
            <a:r>
              <a:rPr lang="en-US" dirty="0"/>
              <a:t>10s</a:t>
            </a:r>
            <a:endParaRPr dirty="0"/>
          </a:p>
          <a:p>
            <a:pPr>
              <a:lnSpc>
                <a:spcPct val="150000"/>
              </a:lnSpc>
              <a:defRPr sz="1800"/>
            </a:pPr>
            <a:r>
              <a:rPr dirty="0"/>
              <a:t>Metrics: Throughput (req/s), Average latency (</a:t>
            </a:r>
            <a:r>
              <a:rPr dirty="0" err="1"/>
              <a:t>ms</a:t>
            </a:r>
            <a:r>
              <a:rPr dirty="0"/>
              <a:t>), CPU </a:t>
            </a:r>
            <a:r>
              <a:rPr lang="en-US" dirty="0"/>
              <a:t>&amp;</a:t>
            </a:r>
            <a:r>
              <a:rPr dirty="0"/>
              <a:t> Disk utilization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#1 — GET_POPULAR (Throughput &amp; Latency)</a:t>
            </a:r>
          </a:p>
        </p:txBody>
      </p:sp>
      <p:pic>
        <p:nvPicPr>
          <p:cNvPr id="3" name="Picture 2" descr="Throughput_GetPop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02" y="2407592"/>
            <a:ext cx="5184349" cy="2772207"/>
          </a:xfrm>
          <a:prstGeom prst="rect">
            <a:avLst/>
          </a:prstGeom>
        </p:spPr>
      </p:pic>
      <p:pic>
        <p:nvPicPr>
          <p:cNvPr id="4" name="Picture 3" descr="Latency_GetPop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516" y="2335021"/>
            <a:ext cx="5179706" cy="28551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GET_POPULAR: Throughput vs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GET_POPULAR: Latency vs Clients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#1 — GET_ALL (Throughput &amp; Latency)</a:t>
            </a:r>
          </a:p>
        </p:txBody>
      </p:sp>
      <p:pic>
        <p:nvPicPr>
          <p:cNvPr id="3" name="Picture 2" descr="Throughput_Ge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82" y="2410869"/>
            <a:ext cx="5186269" cy="2806513"/>
          </a:xfrm>
          <a:prstGeom prst="rect">
            <a:avLst/>
          </a:prstGeom>
        </p:spPr>
      </p:pic>
      <p:pic>
        <p:nvPicPr>
          <p:cNvPr id="4" name="Picture 3" descr="Latency_Get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529" y="2410868"/>
            <a:ext cx="5029201" cy="280651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GET_ALL: Throughput vs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GET_ALL: Latency vs Clients</a:t>
            </a: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#2 — PUT_ALL (Throughput &amp; Latency)</a:t>
            </a:r>
          </a:p>
        </p:txBody>
      </p:sp>
      <p:pic>
        <p:nvPicPr>
          <p:cNvPr id="3" name="Picture 2" descr="Throughput_Put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72" y="2302319"/>
            <a:ext cx="5375249" cy="2908778"/>
          </a:xfrm>
          <a:prstGeom prst="rect">
            <a:avLst/>
          </a:prstGeom>
        </p:spPr>
      </p:pic>
      <p:pic>
        <p:nvPicPr>
          <p:cNvPr id="4" name="Picture 3" descr="Latency_Put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115" y="2302319"/>
            <a:ext cx="5212456" cy="29087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PUT_ALL: Throughput vs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PUT_ALL: Latency vs Clients</a:t>
            </a:r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#2 — MIXED (Throughput &amp; Latency)</a:t>
            </a:r>
          </a:p>
        </p:txBody>
      </p:sp>
      <p:pic>
        <p:nvPicPr>
          <p:cNvPr id="3" name="Picture 2" descr="Throughput_M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126" y="2253805"/>
            <a:ext cx="5337714" cy="2888466"/>
          </a:xfrm>
          <a:prstGeom prst="rect">
            <a:avLst/>
          </a:prstGeom>
        </p:spPr>
      </p:pic>
      <p:pic>
        <p:nvPicPr>
          <p:cNvPr id="4" name="Picture 3" descr="Latency_Mix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483" y="2252997"/>
            <a:ext cx="5241577" cy="28892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MIXED: Throughput vs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539496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MIXED: Latency vs Clients</a:t>
            </a:r>
          </a:p>
        </p:txBody>
      </p:sp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2604" y="1629342"/>
            <a:ext cx="9613861" cy="359931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Thank You!</a:t>
            </a:r>
          </a:p>
        </p:txBody>
      </p:sp>
    </p:spTree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25</TotalTime>
  <Words>356</Words>
  <Application>Microsoft Office PowerPoint</Application>
  <PresentationFormat>Widescreen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</vt:lpstr>
      <vt:lpstr>Berlin</vt:lpstr>
      <vt:lpstr>HTTP Based KV Server</vt:lpstr>
      <vt:lpstr>System Architecture - Multi-Tier Design</vt:lpstr>
      <vt:lpstr>Development Process &amp; Implementation</vt:lpstr>
      <vt:lpstr>Load Generator Design</vt:lpstr>
      <vt:lpstr>Experimental Setup</vt:lpstr>
      <vt:lpstr>Workload #1 — GET_POPULAR (Throughput &amp; Latency)</vt:lpstr>
      <vt:lpstr>Workload #1 — GET_ALL (Throughput &amp; Latency)</vt:lpstr>
      <vt:lpstr>Workload #2 — PUT_ALL (Throughput &amp; Latency)</vt:lpstr>
      <vt:lpstr>Workload #2 — MIXED (Throughput &amp; Latency)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Dibyansh Gupta</cp:lastModifiedBy>
  <cp:revision>5</cp:revision>
  <dcterms:created xsi:type="dcterms:W3CDTF">2013-01-27T09:14:16Z</dcterms:created>
  <dcterms:modified xsi:type="dcterms:W3CDTF">2025-11-24T00:24:15Z</dcterms:modified>
  <cp:category/>
</cp:coreProperties>
</file>